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3" r:id="rId3"/>
    <p:sldId id="264" r:id="rId4"/>
    <p:sldId id="265" r:id="rId5"/>
    <p:sldId id="257" r:id="rId6"/>
    <p:sldId id="260" r:id="rId7"/>
    <p:sldId id="258" r:id="rId8"/>
    <p:sldId id="261" r:id="rId9"/>
    <p:sldId id="268" r:id="rId10"/>
    <p:sldId id="270" r:id="rId11"/>
    <p:sldId id="266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60175-5DB1-4794-B768-4DDBD4C2F00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0F2C6F-5A09-409E-BDE2-A64A5D10B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599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F2C6F-5A09-409E-BDE2-A64A5D10B8F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842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F2C6F-5A09-409E-BDE2-A64A5D10B8F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493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ED52E-8D6F-48A4-2BCB-7C6EABD9B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5E4918-C6D7-5C5E-87CC-40C98D945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05665-CCDD-85DD-FD71-41AD01F8C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51D06-5200-4C1A-BACE-E317E90440B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7643E-5434-893A-2E04-70219AA94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F2250-3EA0-1C9B-113D-0C177FD25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D1CF7-4C17-466A-9CDA-9A00BA996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245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5B48-144B-CC2F-8F39-E8700A645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11C4B-CBCF-9244-5219-480CBFA05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21299-E2A3-41BE-9911-A76C7551D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51D06-5200-4C1A-BACE-E317E90440B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D2478-1062-D779-DB15-30556AA65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B4824-A85E-2930-8352-83FED7311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D1CF7-4C17-466A-9CDA-9A00BA996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51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39E22-4104-633A-7A85-AD38732F9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2CA32-8FA9-E156-8BE8-C6859AD55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E7F26-0992-0136-CED5-64E7F8323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51D06-5200-4C1A-BACE-E317E90440B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CA75E-745E-D961-B0A1-4FEBB2D23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E1699-D008-C64A-1AF6-3C7C12D92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D1CF7-4C17-466A-9CDA-9A00BA996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401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1747B-D914-7535-B40C-E42B0B5E8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8AB6E-C08A-579C-527A-DB8477E783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1E7CFF-0EEB-9518-45D4-835557713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D0E47-C32B-692B-1F9A-98AE25577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51D06-5200-4C1A-BACE-E317E90440B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1B8F6-8F2F-E7D8-3087-7F84692AB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572C6-BFAE-EB41-993A-BED7C5B0A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D1CF7-4C17-466A-9CDA-9A00BA996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817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3A27E-AF51-8038-EEE3-D9CA2E8CE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537D9-72AC-884D-2C8D-B142CCE2A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E2B761-A90E-D66D-2FB4-3BB4AC52F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C6B8A2-2BC8-05E2-52F4-75D6C36AD9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711A28-3C30-7590-AD9F-216EDA436A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CD952-BA2F-D47B-E531-FA5DB5B7A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51D06-5200-4C1A-BACE-E317E90440B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829B2D-1E55-9C82-4CC9-AE0030088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F2FA02-C51F-5C4C-164E-C8FAB4A0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D1CF7-4C17-466A-9CDA-9A00BA996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3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C0925-9D97-CA9C-DA93-CB3EE8271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D4DD4E-D185-4821-D76D-83DB98AAD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51D06-5200-4C1A-BACE-E317E90440B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D6038B-F142-ED15-97C9-A4E1FA6C1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F11CBB-C3EE-4B7D-110F-F1A143DF6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D1CF7-4C17-466A-9CDA-9A00BA996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60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4684D1-04B2-11CB-9A3A-9FF6C1CFC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51D06-5200-4C1A-BACE-E317E90440B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C895C9-3BCB-1197-3CA2-2C85991FD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DC386-3307-EBAB-01A3-8BFE9B67C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D1CF7-4C17-466A-9CDA-9A00BA996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03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F83DC-2C1D-6428-877E-46C3C9678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72832-99D2-0CBA-9250-B9D8E7DE3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F84D2-B13F-D9F1-EA34-E8622E07EA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7AADE-F328-30F7-2985-B2569FC7A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51D06-5200-4C1A-BACE-E317E90440B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DAFA3-090D-2340-E2A9-D6EA7E159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1F988-096F-05C1-21F9-B12C60804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D1CF7-4C17-466A-9CDA-9A00BA996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13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778A9-D2E0-6B3A-3BD4-73803C56E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84B203-C144-AB1A-CD85-437A8806D5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9B90F1-B89E-A147-D9E8-95222D311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3FA45-FB23-78E5-EB45-0261508D4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51D06-5200-4C1A-BACE-E317E90440B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37F7D-90B6-B3B6-7817-71C110F6C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D5E55-BA4B-E662-9186-533B33F8C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D1CF7-4C17-466A-9CDA-9A00BA996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49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A3A92-08C6-2221-1E4C-E9CC2A54B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20411-7EC4-DF99-2694-0E93CBEF3A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28828-1B03-AC5A-127D-DA8461E8F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51D06-5200-4C1A-BACE-E317E90440B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13EB-3083-0A24-9EB7-852AC43ED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56AA5-0183-88E3-F1E1-35956EE06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D1CF7-4C17-466A-9CDA-9A00BA996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407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E211D3-0C12-E36A-CE5F-103FF19B94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93C251-3B8B-3A7E-743A-8F9388D4C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90841-66CA-63CB-4A1E-00C7B5980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51D06-5200-4C1A-BACE-E317E90440B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DA50E-548E-6394-A80B-B857AFD0C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94835-AAAB-CA88-CD67-1AA0074B3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D1CF7-4C17-466A-9CDA-9A00BA996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614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C74EE-8894-5BF2-5DEB-E27EB9CAF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5F8DC-3A8F-440B-EDA0-4B663D088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EB4C5-1642-9F30-43DD-A1BCBC07F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351D06-5200-4C1A-BACE-E317E90440B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085A8-979A-B0F0-0FA9-852A3B721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2524B-B198-943A-F8CF-6F2960C8F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5D1CF7-4C17-466A-9CDA-9A00BA996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006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A485468-DF93-B51A-7DF2-160ED8CACDDD}"/>
              </a:ext>
            </a:extLst>
          </p:cNvPr>
          <p:cNvSpPr txBox="1"/>
          <p:nvPr/>
        </p:nvSpPr>
        <p:spPr>
          <a:xfrm>
            <a:off x="549487" y="566491"/>
            <a:ext cx="10466493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600" b="0" dirty="0">
                <a:solidFill>
                  <a:srgbClr val="373737"/>
                </a:solidFill>
                <a:latin typeface="Calibri"/>
              </a:rPr>
              <a:t>IIT Madras Computer Centre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203FDC5-AC83-C49E-AEDC-6CF139A1287F}"/>
              </a:ext>
            </a:extLst>
          </p:cNvPr>
          <p:cNvSpPr txBox="1"/>
          <p:nvPr/>
        </p:nvSpPr>
        <p:spPr>
          <a:xfrm>
            <a:off x="387772" y="1283897"/>
            <a:ext cx="1078992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0" dirty="0">
                <a:solidFill>
                  <a:srgbClr val="7D7D7D"/>
                </a:solidFill>
                <a:latin typeface="Calibri"/>
              </a:rPr>
              <a:t>P.G. Senapathy Centre for Computing Resources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038A69-C539-EDCE-83D5-44EAE943492A}"/>
              </a:ext>
            </a:extLst>
          </p:cNvPr>
          <p:cNvSpPr txBox="1"/>
          <p:nvPr/>
        </p:nvSpPr>
        <p:spPr>
          <a:xfrm>
            <a:off x="1650999" y="2747132"/>
            <a:ext cx="826346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300" b="1" dirty="0">
                <a:solidFill>
                  <a:srgbClr val="141414"/>
                </a:solidFill>
                <a:latin typeface="Calibri"/>
              </a:rPr>
              <a:t>DNS SERVER INSTALLATION AND TESTING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5CF12B-D6C3-D699-14A0-765D0D3654FA}"/>
              </a:ext>
            </a:extLst>
          </p:cNvPr>
          <p:cNvSpPr/>
          <p:nvPr/>
        </p:nvSpPr>
        <p:spPr>
          <a:xfrm>
            <a:off x="3849793" y="3510704"/>
            <a:ext cx="4069080" cy="228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D8239B87-59C5-4D0F-14DD-119818049D28}"/>
              </a:ext>
            </a:extLst>
          </p:cNvPr>
          <p:cNvSpPr txBox="1"/>
          <p:nvPr/>
        </p:nvSpPr>
        <p:spPr>
          <a:xfrm>
            <a:off x="387772" y="5481770"/>
            <a:ext cx="107899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0" dirty="0">
                <a:solidFill>
                  <a:srgbClr val="7D7D7D"/>
                </a:solidFill>
                <a:latin typeface="Calibri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232466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3AF7469-2B0B-FD73-3AB8-3CE5367475A4}"/>
              </a:ext>
            </a:extLst>
          </p:cNvPr>
          <p:cNvSpPr txBox="1"/>
          <p:nvPr/>
        </p:nvSpPr>
        <p:spPr>
          <a:xfrm>
            <a:off x="1066800" y="615880"/>
            <a:ext cx="10126133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DNS Server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F9AECC-AC85-64DA-37D4-5DB3D4CF41ED}"/>
              </a:ext>
            </a:extLst>
          </p:cNvPr>
          <p:cNvSpPr/>
          <p:nvPr/>
        </p:nvSpPr>
        <p:spPr>
          <a:xfrm>
            <a:off x="609600" y="1237672"/>
            <a:ext cx="10972800" cy="16459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7D2AC99-DD8A-F067-B58F-C5120426679F}"/>
              </a:ext>
            </a:extLst>
          </p:cNvPr>
          <p:cNvSpPr txBox="1"/>
          <p:nvPr/>
        </p:nvSpPr>
        <p:spPr>
          <a:xfrm>
            <a:off x="1066800" y="1356544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>
                <a:solidFill>
                  <a:srgbClr val="7D7D7D"/>
                </a:solidFill>
                <a:latin typeface="Calibri"/>
              </a:rPr>
              <a:t>Configured and validated DNS resolution with a ping test</a:t>
            </a:r>
          </a:p>
        </p:txBody>
      </p:sp>
      <p:sp>
        <p:nvSpPr>
          <p:cNvPr id="28" name="TextBox 32">
            <a:extLst>
              <a:ext uri="{FF2B5EF4-FFF2-40B4-BE49-F238E27FC236}">
                <a16:creationId xmlns:a16="http://schemas.microsoft.com/office/drawing/2014/main" id="{FB1DA5E0-8285-C088-DFD8-6F904DBF9C36}"/>
              </a:ext>
            </a:extLst>
          </p:cNvPr>
          <p:cNvSpPr txBox="1"/>
          <p:nvPr/>
        </p:nvSpPr>
        <p:spPr>
          <a:xfrm>
            <a:off x="4119032" y="6242120"/>
            <a:ext cx="80729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200" dirty="0"/>
              <a:t>You  →  </a:t>
            </a:r>
            <a:r>
              <a:rPr lang="en-US" sz="1200" dirty="0">
                <a:hlinkClick r:id="rId2"/>
              </a:rPr>
              <a:t>www.google.com</a:t>
            </a:r>
            <a:r>
              <a:rPr lang="en-US" sz="1200" dirty="0"/>
              <a:t>  →  DNS Server  →  Finds IP Address  → 142.250.xxx.xxx →  Google Server  →  Website Displayed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8F00CD-52DA-AFF2-DA87-83C5FDCDC736}"/>
              </a:ext>
            </a:extLst>
          </p:cNvPr>
          <p:cNvSpPr txBox="1"/>
          <p:nvPr/>
        </p:nvSpPr>
        <p:spPr>
          <a:xfrm>
            <a:off x="736600" y="1661241"/>
            <a:ext cx="8442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DNS server</a:t>
            </a:r>
            <a:r>
              <a:rPr lang="en-US" dirty="0"/>
              <a:t> is a network server that translates </a:t>
            </a:r>
            <a:r>
              <a:rPr lang="en-US" b="1" dirty="0"/>
              <a:t>human-readable domain names into IP addresses</a:t>
            </a:r>
            <a:r>
              <a:rPr lang="en-US" dirty="0"/>
              <a:t>, allowing computers to locate services on a network.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5D1D4B-2167-A56D-A329-3D6166864802}"/>
              </a:ext>
            </a:extLst>
          </p:cNvPr>
          <p:cNvSpPr txBox="1"/>
          <p:nvPr/>
        </p:nvSpPr>
        <p:spPr>
          <a:xfrm>
            <a:off x="7857066" y="1955203"/>
            <a:ext cx="198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Port:</a:t>
            </a:r>
            <a:r>
              <a:rPr lang="en-US" dirty="0"/>
              <a:t> </a:t>
            </a:r>
            <a:r>
              <a:rPr lang="en-US" b="1" dirty="0"/>
              <a:t>53</a:t>
            </a:r>
            <a:endParaRPr lang="en-US" dirty="0"/>
          </a:p>
        </p:txBody>
      </p:sp>
      <p:pic>
        <p:nvPicPr>
          <p:cNvPr id="36" name="Picture 35" descr="What is DNS (Domain Name System): How It Works (2026)">
            <a:extLst>
              <a:ext uri="{FF2B5EF4-FFF2-40B4-BE49-F238E27FC236}">
                <a16:creationId xmlns:a16="http://schemas.microsoft.com/office/drawing/2014/main" id="{018BD26D-98EC-764C-41A1-3020B483B4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61" b="5944"/>
          <a:stretch>
            <a:fillRect/>
          </a:stretch>
        </p:blipFill>
        <p:spPr>
          <a:xfrm>
            <a:off x="2896361" y="2416821"/>
            <a:ext cx="8296572" cy="34645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ADB975-022E-1228-8857-77EE4050E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631" y="4784012"/>
            <a:ext cx="4030731" cy="143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846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ByteByteGo | DNS Record Types You Should Know">
            <a:extLst>
              <a:ext uri="{FF2B5EF4-FFF2-40B4-BE49-F238E27FC236}">
                <a16:creationId xmlns:a16="http://schemas.microsoft.com/office/drawing/2014/main" id="{E8657DDC-CF40-A9F3-9AF1-1A95D60532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9" t="7722" r="-8166" b="45841"/>
          <a:stretch>
            <a:fillRect/>
          </a:stretch>
        </p:blipFill>
        <p:spPr>
          <a:xfrm>
            <a:off x="616625" y="731520"/>
            <a:ext cx="10958749" cy="600999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B0F6726-EB21-3FB9-0C5E-6A92F15967EE}"/>
              </a:ext>
            </a:extLst>
          </p:cNvPr>
          <p:cNvSpPr txBox="1"/>
          <p:nvPr/>
        </p:nvSpPr>
        <p:spPr>
          <a:xfrm>
            <a:off x="684611" y="193040"/>
            <a:ext cx="4013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DNS RECORD</a:t>
            </a:r>
          </a:p>
          <a:p>
            <a:endParaRPr 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092B18-6147-C59A-54F9-68063FF78ACA}"/>
              </a:ext>
            </a:extLst>
          </p:cNvPr>
          <p:cNvSpPr txBox="1"/>
          <p:nvPr/>
        </p:nvSpPr>
        <p:spPr>
          <a:xfrm>
            <a:off x="3039534" y="66302"/>
            <a:ext cx="5234092" cy="665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Information that tells DNS where a domain should go and what services it uses.</a:t>
            </a:r>
          </a:p>
        </p:txBody>
      </p:sp>
    </p:spTree>
    <p:extLst>
      <p:ext uri="{BB962C8B-B14F-4D97-AF65-F5344CB8AC3E}">
        <p14:creationId xmlns:p14="http://schemas.microsoft.com/office/powerpoint/2010/main" val="3018804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yteByteGo | DNS Record Types You Should Know">
            <a:extLst>
              <a:ext uri="{FF2B5EF4-FFF2-40B4-BE49-F238E27FC236}">
                <a16:creationId xmlns:a16="http://schemas.microsoft.com/office/drawing/2014/main" id="{C4C59B37-5BAC-8436-8898-13B1BF4854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4" t="53750" r="-8581" b="-2097"/>
          <a:stretch>
            <a:fillRect/>
          </a:stretch>
        </p:blipFill>
        <p:spPr>
          <a:xfrm>
            <a:off x="616710" y="253999"/>
            <a:ext cx="11768330" cy="671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362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3E3ED7-79C7-F620-784F-8B737CE63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" y="629529"/>
            <a:ext cx="7975600" cy="559894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463DBC-6A99-52EE-C692-CE9B03611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160256"/>
              </p:ext>
            </p:extLst>
          </p:nvPr>
        </p:nvGraphicFramePr>
        <p:xfrm>
          <a:off x="8158481" y="1034468"/>
          <a:ext cx="3916680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8340">
                  <a:extLst>
                    <a:ext uri="{9D8B030D-6E8A-4147-A177-3AD203B41FA5}">
                      <a16:colId xmlns:a16="http://schemas.microsoft.com/office/drawing/2014/main" val="2375112739"/>
                    </a:ext>
                  </a:extLst>
                </a:gridCol>
                <a:gridCol w="1958340">
                  <a:extLst>
                    <a:ext uri="{9D8B030D-6E8A-4147-A177-3AD203B41FA5}">
                      <a16:colId xmlns:a16="http://schemas.microsoft.com/office/drawing/2014/main" val="1983247794"/>
                    </a:ext>
                  </a:extLst>
                </a:gridCol>
              </a:tblGrid>
              <a:tr h="188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Package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11614"/>
                  </a:ext>
                </a:extLst>
              </a:tr>
              <a:tr h="298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bind9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Main BIND9 DNS server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716111"/>
                  </a:ext>
                </a:extLst>
              </a:tr>
              <a:tr h="298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bind9-dnsutils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DNS client/testing utilities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936104"/>
                  </a:ext>
                </a:extLst>
              </a:tr>
              <a:tr h="521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bind9-host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Provides the host DNS lookup command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4003679"/>
                  </a:ext>
                </a:extLst>
              </a:tr>
              <a:tr h="298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bind9-libs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Libraries required by BIND9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6794267"/>
                  </a:ext>
                </a:extLst>
              </a:tr>
              <a:tr h="521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bind9-utils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Administration and diagnostic utilities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172020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4F46960-F8A6-252A-2F7C-01CDA149E1FD}"/>
              </a:ext>
            </a:extLst>
          </p:cNvPr>
          <p:cNvSpPr txBox="1"/>
          <p:nvPr/>
        </p:nvSpPr>
        <p:spPr>
          <a:xfrm>
            <a:off x="1463040" y="3500121"/>
            <a:ext cx="5415280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100" dirty="0"/>
              <a:t>"Which DNS zones should this server manage, and where are their zone files located?"</a:t>
            </a:r>
          </a:p>
        </p:txBody>
      </p:sp>
    </p:spTree>
    <p:extLst>
      <p:ext uri="{BB962C8B-B14F-4D97-AF65-F5344CB8AC3E}">
        <p14:creationId xmlns:p14="http://schemas.microsoft.com/office/powerpoint/2010/main" val="1223081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C7080E-1AA0-8EDD-87FE-B2B9D8EF60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65" y="479108"/>
            <a:ext cx="6994795" cy="5969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C5B49F-C233-839C-0C80-11673847EBE4}"/>
              </a:ext>
            </a:extLst>
          </p:cNvPr>
          <p:cNvSpPr txBox="1"/>
          <p:nvPr/>
        </p:nvSpPr>
        <p:spPr>
          <a:xfrm>
            <a:off x="2329179" y="4275564"/>
            <a:ext cx="1256709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000" dirty="0"/>
              <a:t>Google Public DNS.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A9207F-E844-9946-BB3E-4237B9AC3502}"/>
              </a:ext>
            </a:extLst>
          </p:cNvPr>
          <p:cNvSpPr txBox="1"/>
          <p:nvPr/>
        </p:nvSpPr>
        <p:spPr>
          <a:xfrm>
            <a:off x="2225039" y="4693781"/>
            <a:ext cx="1442721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000" dirty="0"/>
              <a:t>Cloudflare Public DNS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F790D58-4AEC-8269-9806-82754718C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255564"/>
              </p:ext>
            </p:extLst>
          </p:nvPr>
        </p:nvGraphicFramePr>
        <p:xfrm>
          <a:off x="7147560" y="165894"/>
          <a:ext cx="4790440" cy="6217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5220">
                  <a:extLst>
                    <a:ext uri="{9D8B030D-6E8A-4147-A177-3AD203B41FA5}">
                      <a16:colId xmlns:a16="http://schemas.microsoft.com/office/drawing/2014/main" val="1416447853"/>
                    </a:ext>
                  </a:extLst>
                </a:gridCol>
                <a:gridCol w="2395220">
                  <a:extLst>
                    <a:ext uri="{9D8B030D-6E8A-4147-A177-3AD203B41FA5}">
                      <a16:colId xmlns:a16="http://schemas.microsoft.com/office/drawing/2014/main" val="215934697"/>
                    </a:ext>
                  </a:extLst>
                </a:gridCol>
              </a:tblGrid>
              <a:tr h="199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Configuration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6763899"/>
                  </a:ext>
                </a:extLst>
              </a:tr>
              <a:tr h="349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listen-on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Defines IPv4 addresses where BIND accepts DNS requests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5236810"/>
                  </a:ext>
                </a:extLst>
              </a:tr>
              <a:tr h="199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listen-on-v6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Enables IPv6 DNS listening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0608607"/>
                  </a:ext>
                </a:extLst>
              </a:tr>
              <a:tr h="199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allow-query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Restricts which clients can send DNS queries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5848796"/>
                  </a:ext>
                </a:extLst>
              </a:tr>
              <a:tr h="199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recursion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Allows recursive DNS resolution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445624"/>
                  </a:ext>
                </a:extLst>
              </a:tr>
              <a:tr h="199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forwarders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Sends external DNS queries to upstream resolvers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5347691"/>
                  </a:ext>
                </a:extLst>
              </a:tr>
              <a:tr h="199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dnssec-validation auto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Enables automatic DNSSEC 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37170"/>
                  </a:ext>
                </a:extLst>
              </a:tr>
              <a:tr h="199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directory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Defines BIND's working/cache directory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44492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32F8D69-7DBE-62C7-3BCC-FFA110779C40}"/>
              </a:ext>
            </a:extLst>
          </p:cNvPr>
          <p:cNvSpPr txBox="1"/>
          <p:nvPr/>
        </p:nvSpPr>
        <p:spPr>
          <a:xfrm>
            <a:off x="2329179" y="2148830"/>
            <a:ext cx="1887221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000" dirty="0"/>
              <a:t> IP address of your DNS server.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4435C7-34E8-6FDF-4296-43A477F983F3}"/>
              </a:ext>
            </a:extLst>
          </p:cNvPr>
          <p:cNvSpPr txBox="1"/>
          <p:nvPr/>
        </p:nvSpPr>
        <p:spPr>
          <a:xfrm>
            <a:off x="2376169" y="1834456"/>
            <a:ext cx="1793239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000" dirty="0"/>
              <a:t>localhost/loopback address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BC55CE-E81B-A2A0-17E6-C021A267B839}"/>
              </a:ext>
            </a:extLst>
          </p:cNvPr>
          <p:cNvSpPr txBox="1"/>
          <p:nvPr/>
        </p:nvSpPr>
        <p:spPr>
          <a:xfrm>
            <a:off x="4352290" y="1971020"/>
            <a:ext cx="2110741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000" dirty="0"/>
              <a:t>BIND listens for DNS requests on: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CCFC30-95FF-B88C-AF95-B5D5CDC53547}"/>
              </a:ext>
            </a:extLst>
          </p:cNvPr>
          <p:cNvSpPr txBox="1"/>
          <p:nvPr/>
        </p:nvSpPr>
        <p:spPr>
          <a:xfrm>
            <a:off x="2654299" y="3074799"/>
            <a:ext cx="2181861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000" dirty="0"/>
              <a:t>This controls </a:t>
            </a:r>
            <a:r>
              <a:rPr lang="en-US" sz="1000" b="1" dirty="0"/>
              <a:t>who is allowed to send DNS queries to your server</a:t>
            </a:r>
            <a:r>
              <a:rPr lang="en-US" sz="1000" dirty="0"/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BF1D82-B780-5020-D74E-E513632D141A}"/>
              </a:ext>
            </a:extLst>
          </p:cNvPr>
          <p:cNvSpPr txBox="1"/>
          <p:nvPr/>
        </p:nvSpPr>
        <p:spPr>
          <a:xfrm>
            <a:off x="2654299" y="5253216"/>
            <a:ext cx="2639061" cy="55399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000" dirty="0"/>
              <a:t>DNSSEC helps verify that DNS responses are </a:t>
            </a:r>
            <a:r>
              <a:rPr lang="en-US" sz="1000" b="1" dirty="0"/>
              <a:t>authentic and have not been tampered with</a:t>
            </a:r>
            <a:r>
              <a:rPr lang="en-US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1416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2A132F-BCC0-91CD-D91B-290B60403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9367"/>
            <a:ext cx="7775612" cy="4694873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500E8B-7305-1204-D2CC-EE3326D23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541274"/>
              </p:ext>
            </p:extLst>
          </p:nvPr>
        </p:nvGraphicFramePr>
        <p:xfrm>
          <a:off x="8237220" y="2037666"/>
          <a:ext cx="3403598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9834">
                  <a:extLst>
                    <a:ext uri="{9D8B030D-6E8A-4147-A177-3AD203B41FA5}">
                      <a16:colId xmlns:a16="http://schemas.microsoft.com/office/drawing/2014/main" val="2112598509"/>
                    </a:ext>
                  </a:extLst>
                </a:gridCol>
                <a:gridCol w="1332485">
                  <a:extLst>
                    <a:ext uri="{9D8B030D-6E8A-4147-A177-3AD203B41FA5}">
                      <a16:colId xmlns:a16="http://schemas.microsoft.com/office/drawing/2014/main" val="2594074654"/>
                    </a:ext>
                  </a:extLst>
                </a:gridCol>
                <a:gridCol w="1351279">
                  <a:extLst>
                    <a:ext uri="{9D8B030D-6E8A-4147-A177-3AD203B41FA5}">
                      <a16:colId xmlns:a16="http://schemas.microsoft.com/office/drawing/2014/main" val="2469974271"/>
                    </a:ext>
                  </a:extLst>
                </a:gridCol>
              </a:tblGrid>
              <a:tr h="23895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7834833"/>
                  </a:ext>
                </a:extLst>
              </a:tr>
              <a:tr h="23895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3600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Refresh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dirty="0"/>
                        <a:t>1 hour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1556430"/>
                  </a:ext>
                </a:extLst>
              </a:tr>
              <a:tr h="23895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1800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Retry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dirty="0"/>
                        <a:t>30 minutes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0319525"/>
                  </a:ext>
                </a:extLst>
              </a:tr>
              <a:tr h="23895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604800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Expire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7 days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053256"/>
                  </a:ext>
                </a:extLst>
              </a:tr>
              <a:tr h="23895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86400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Negative caching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dirty="0"/>
                        <a:t>24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8098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78076B5-9A92-F3A2-0126-155EBD4AE91B}"/>
              </a:ext>
            </a:extLst>
          </p:cNvPr>
          <p:cNvSpPr txBox="1"/>
          <p:nvPr/>
        </p:nvSpPr>
        <p:spPr>
          <a:xfrm>
            <a:off x="5082539" y="2477245"/>
            <a:ext cx="1338581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000" dirty="0"/>
              <a:t>Time To Live  (24 </a:t>
            </a:r>
            <a:r>
              <a:rPr lang="en-US" sz="1000" dirty="0" err="1"/>
              <a:t>hr</a:t>
            </a:r>
            <a:r>
              <a:rPr lang="en-US" sz="1000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F38593-B6F5-CD14-BF58-97C335D8A550}"/>
              </a:ext>
            </a:extLst>
          </p:cNvPr>
          <p:cNvSpPr txBox="1"/>
          <p:nvPr/>
        </p:nvSpPr>
        <p:spPr>
          <a:xfrm>
            <a:off x="4945378" y="2934445"/>
            <a:ext cx="1612901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000" b="1" dirty="0"/>
              <a:t>Start of Authority</a:t>
            </a:r>
            <a:r>
              <a:rPr lang="en-US" sz="1000" dirty="0"/>
              <a:t> record.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FAD97CA-ED9F-A93C-5620-9AD051645B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679552"/>
              </p:ext>
            </p:extLst>
          </p:nvPr>
        </p:nvGraphicFramePr>
        <p:xfrm>
          <a:off x="7775612" y="3881627"/>
          <a:ext cx="4338320" cy="16870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0752">
                  <a:extLst>
                    <a:ext uri="{9D8B030D-6E8A-4147-A177-3AD203B41FA5}">
                      <a16:colId xmlns:a16="http://schemas.microsoft.com/office/drawing/2014/main" val="3295837828"/>
                    </a:ext>
                  </a:extLst>
                </a:gridCol>
                <a:gridCol w="3807568">
                  <a:extLst>
                    <a:ext uri="{9D8B030D-6E8A-4147-A177-3AD203B41FA5}">
                      <a16:colId xmlns:a16="http://schemas.microsoft.com/office/drawing/2014/main" val="3582617676"/>
                    </a:ext>
                  </a:extLst>
                </a:gridCol>
              </a:tblGrid>
              <a:tr h="241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Record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5937613"/>
                  </a:ext>
                </a:extLst>
              </a:tr>
              <a:tr h="406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SOA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Defines zone authority and administrative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9878696"/>
                  </a:ext>
                </a:extLst>
              </a:tr>
              <a:tr h="241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Specifies the authoritative name server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797924"/>
                  </a:ext>
                </a:extLst>
              </a:tr>
              <a:tr h="241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Maps hostname/domain to IPv4 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8579604"/>
                  </a:ext>
                </a:extLst>
              </a:tr>
              <a:tr h="241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TTL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Defines DNS caching duration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2081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0765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42A4CB-3D88-3F1D-87C0-C93ED30D2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20" y="172719"/>
            <a:ext cx="7274560" cy="51068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CF9E53-370F-6349-F0B2-D6B2CD110B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970" b="19994"/>
          <a:stretch>
            <a:fillRect/>
          </a:stretch>
        </p:blipFill>
        <p:spPr>
          <a:xfrm>
            <a:off x="3619011" y="1968248"/>
            <a:ext cx="8247870" cy="4645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602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AA6F2-0997-B8EF-7A0E-B1617C6B5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67240" cy="1077595"/>
          </a:xfrm>
        </p:spPr>
        <p:txBody>
          <a:bodyPr>
            <a:normAutofit/>
          </a:bodyPr>
          <a:lstStyle/>
          <a:p>
            <a:r>
              <a:rPr lang="en-US" sz="3600" dirty="0"/>
              <a:t>CDN = Content Delivery Network.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F17C54-8916-6489-72D9-2CF46EA59BF7}"/>
              </a:ext>
            </a:extLst>
          </p:cNvPr>
          <p:cNvSpPr txBox="1"/>
          <p:nvPr/>
        </p:nvSpPr>
        <p:spPr>
          <a:xfrm>
            <a:off x="5496560" y="35864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9E68F6-839A-8CC0-C8F7-1D6B032B4D21}"/>
              </a:ext>
            </a:extLst>
          </p:cNvPr>
          <p:cNvSpPr txBox="1"/>
          <p:nvPr/>
        </p:nvSpPr>
        <p:spPr>
          <a:xfrm>
            <a:off x="838200" y="1280160"/>
            <a:ext cx="8006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CDN is a </a:t>
            </a:r>
            <a:r>
              <a:rPr lang="en-US" b="1" dirty="0"/>
              <a:t>distributed network of servers located in different geographical locations</a:t>
            </a:r>
            <a:r>
              <a:rPr lang="en-US" dirty="0"/>
              <a:t> that delivers website content to users from a server that is </a:t>
            </a:r>
            <a:r>
              <a:rPr lang="en-US" b="1" dirty="0"/>
              <a:t>physically closer to them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43FEF4-3863-5C35-7085-795F11B4948F}"/>
              </a:ext>
            </a:extLst>
          </p:cNvPr>
          <p:cNvSpPr txBox="1"/>
          <p:nvPr/>
        </p:nvSpPr>
        <p:spPr>
          <a:xfrm>
            <a:off x="767080" y="2641044"/>
            <a:ext cx="807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POP is a physical location/data center where a CDN has its edge servers</a:t>
            </a:r>
            <a:r>
              <a:rPr lang="en-US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2B8C35-566E-3BBC-5B76-491D0C310FAE}"/>
              </a:ext>
            </a:extLst>
          </p:cNvPr>
          <p:cNvSpPr txBox="1"/>
          <p:nvPr/>
        </p:nvSpPr>
        <p:spPr>
          <a:xfrm>
            <a:off x="965200" y="3160951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 CDN POP can contain: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Edge servers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Caching systems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Network equipment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High-speed internet connections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Security/networking infrastructure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C0E992-88B6-CB30-515F-68AB8125BB71}"/>
              </a:ext>
            </a:extLst>
          </p:cNvPr>
          <p:cNvSpPr txBox="1"/>
          <p:nvPr/>
        </p:nvSpPr>
        <p:spPr>
          <a:xfrm>
            <a:off x="6299200" y="33997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Edge server = server inside that location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632EF64-6C4F-5DB9-322F-D75EEFFEF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072918"/>
              </p:ext>
            </p:extLst>
          </p:nvPr>
        </p:nvGraphicFramePr>
        <p:xfrm>
          <a:off x="8915400" y="528320"/>
          <a:ext cx="2626360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3180">
                  <a:extLst>
                    <a:ext uri="{9D8B030D-6E8A-4147-A177-3AD203B41FA5}">
                      <a16:colId xmlns:a16="http://schemas.microsoft.com/office/drawing/2014/main" val="1017497055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34204909"/>
                    </a:ext>
                  </a:extLst>
                </a:gridCol>
              </a:tblGrid>
              <a:tr h="252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Protocol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263543"/>
                  </a:ext>
                </a:extLst>
              </a:tr>
              <a:tr h="252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HTTP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7390345"/>
                  </a:ext>
                </a:extLst>
              </a:tr>
              <a:tr h="252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HTTPS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443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6949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2049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hat is CDN (Content Delivery Network)? - ClouDNS Blog">
            <a:extLst>
              <a:ext uri="{FF2B5EF4-FFF2-40B4-BE49-F238E27FC236}">
                <a16:creationId xmlns:a16="http://schemas.microsoft.com/office/drawing/2014/main" id="{D8D04738-05FB-40CB-C22A-F85BDA903C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268"/>
          <a:stretch>
            <a:fillRect/>
          </a:stretch>
        </p:blipFill>
        <p:spPr>
          <a:xfrm>
            <a:off x="980440" y="0"/>
            <a:ext cx="10231120" cy="47612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509DDDD-010E-1692-BC64-E4047E6281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259" b="5324"/>
          <a:stretch>
            <a:fillRect/>
          </a:stretch>
        </p:blipFill>
        <p:spPr>
          <a:xfrm>
            <a:off x="1530813" y="4125969"/>
            <a:ext cx="9333574" cy="270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755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6C4BDA3-1E07-07AD-2DA2-68AE3C6ED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485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B20CAAF-BE9F-DB12-D6D1-169FAE056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380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401</Words>
  <Application>Microsoft Office PowerPoint</Application>
  <PresentationFormat>Widescreen</PresentationFormat>
  <Paragraphs>92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CDN = Content Delivery Network.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jayaaswin M</dc:creator>
  <cp:lastModifiedBy>jayaaswin M</cp:lastModifiedBy>
  <cp:revision>4</cp:revision>
  <dcterms:created xsi:type="dcterms:W3CDTF">2026-09-16T14:47:06Z</dcterms:created>
  <dcterms:modified xsi:type="dcterms:W3CDTF">2026-09-17T08:57:42Z</dcterms:modified>
</cp:coreProperties>
</file>